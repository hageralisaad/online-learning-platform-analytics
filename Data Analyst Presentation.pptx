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Bold" charset="1" panose="00000800000000000000"/>
      <p:regular r:id="rId15"/>
    </p:embeddedFont>
    <p:embeddedFont>
      <p:font typeface="Open Sans" charset="1" panose="00000000000000000000"/>
      <p:regular r:id="rId16"/>
    </p:embeddedFont>
    <p:embeddedFont>
      <p:font typeface="Open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173" y="424774"/>
            <a:ext cx="17543653" cy="9437452"/>
            <a:chOff x="0" y="0"/>
            <a:chExt cx="3609805" cy="1941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09805" cy="1941863"/>
            </a:xfrm>
            <a:custGeom>
              <a:avLst/>
              <a:gdLst/>
              <a:ahLst/>
              <a:cxnLst/>
              <a:rect r="r" b="b" t="t" l="l"/>
              <a:pathLst>
                <a:path h="1941863" w="3609805">
                  <a:moveTo>
                    <a:pt x="8619" y="0"/>
                  </a:moveTo>
                  <a:lnTo>
                    <a:pt x="3601186" y="0"/>
                  </a:lnTo>
                  <a:cubicBezTo>
                    <a:pt x="3605946" y="0"/>
                    <a:pt x="3609805" y="3859"/>
                    <a:pt x="3609805" y="8619"/>
                  </a:cubicBezTo>
                  <a:lnTo>
                    <a:pt x="3609805" y="1933244"/>
                  </a:lnTo>
                  <a:cubicBezTo>
                    <a:pt x="3609805" y="1938004"/>
                    <a:pt x="3605946" y="1941863"/>
                    <a:pt x="3601186" y="1941863"/>
                  </a:cubicBezTo>
                  <a:lnTo>
                    <a:pt x="8619" y="1941863"/>
                  </a:lnTo>
                  <a:cubicBezTo>
                    <a:pt x="3859" y="1941863"/>
                    <a:pt x="0" y="1938004"/>
                    <a:pt x="0" y="1933244"/>
                  </a:cubicBezTo>
                  <a:lnTo>
                    <a:pt x="0" y="8619"/>
                  </a:lnTo>
                  <a:cubicBezTo>
                    <a:pt x="0" y="3859"/>
                    <a:pt x="3859" y="0"/>
                    <a:pt x="8619" y="0"/>
                  </a:cubicBezTo>
                  <a:close/>
                </a:path>
              </a:pathLst>
            </a:custGeom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09805" cy="197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1558917"/>
            <a:ext cx="8115300" cy="6185625"/>
          </a:xfrm>
          <a:custGeom>
            <a:avLst/>
            <a:gdLst/>
            <a:ahLst/>
            <a:cxnLst/>
            <a:rect r="r" b="b" t="t" l="l"/>
            <a:pathLst>
              <a:path h="6185625" w="8115300">
                <a:moveTo>
                  <a:pt x="0" y="0"/>
                </a:moveTo>
                <a:lnTo>
                  <a:pt x="8115300" y="0"/>
                </a:lnTo>
                <a:lnTo>
                  <a:pt x="8115300" y="6185625"/>
                </a:lnTo>
                <a:lnTo>
                  <a:pt x="0" y="6185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09364" y="2594330"/>
            <a:ext cx="7184571" cy="4114800"/>
          </a:xfrm>
          <a:custGeom>
            <a:avLst/>
            <a:gdLst/>
            <a:ahLst/>
            <a:cxnLst/>
            <a:rect r="r" b="b" t="t" l="l"/>
            <a:pathLst>
              <a:path h="4114800" w="7184571">
                <a:moveTo>
                  <a:pt x="0" y="0"/>
                </a:moveTo>
                <a:lnTo>
                  <a:pt x="7184572" y="0"/>
                </a:lnTo>
                <a:lnTo>
                  <a:pt x="7184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0788" y="3984627"/>
            <a:ext cx="8115300" cy="474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b="true" sz="9000" spc="711">
                <a:solidFill>
                  <a:srgbClr val="E2E2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ONLINE LEARNING </a:t>
            </a:r>
          </a:p>
          <a:p>
            <a:pPr algn="l">
              <a:lnSpc>
                <a:spcPts val="126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235904"/>
            <a:ext cx="7537411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Platfor</a:t>
            </a: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m Analytics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98337" y="8670925"/>
            <a:ext cx="4891326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Presented by Hager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19927">
            <a:off x="1396110" y="-1426062"/>
            <a:ext cx="13209757" cy="21368724"/>
          </a:xfrm>
          <a:custGeom>
            <a:avLst/>
            <a:gdLst/>
            <a:ahLst/>
            <a:cxnLst/>
            <a:rect r="r" b="b" t="t" l="l"/>
            <a:pathLst>
              <a:path h="21368724" w="13209757">
                <a:moveTo>
                  <a:pt x="0" y="0"/>
                </a:moveTo>
                <a:lnTo>
                  <a:pt x="13209757" y="0"/>
                </a:lnTo>
                <a:lnTo>
                  <a:pt x="13209757" y="21368724"/>
                </a:lnTo>
                <a:lnTo>
                  <a:pt x="0" y="21368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3339630" cy="1693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39629" cy="1693333"/>
            </a:xfrm>
            <a:custGeom>
              <a:avLst/>
              <a:gdLst/>
              <a:ahLst/>
              <a:cxnLst/>
              <a:rect r="r" b="b" t="t" l="l"/>
              <a:pathLst>
                <a:path h="1693333" w="3339629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1684017"/>
                  </a:lnTo>
                  <a:cubicBezTo>
                    <a:pt x="3339629" y="1689162"/>
                    <a:pt x="3335458" y="1693333"/>
                    <a:pt x="3330313" y="1693333"/>
                  </a:cubicBezTo>
                  <a:lnTo>
                    <a:pt x="9316" y="1693333"/>
                  </a:lnTo>
                  <a:cubicBezTo>
                    <a:pt x="4171" y="1693333"/>
                    <a:pt x="0" y="1689162"/>
                    <a:pt x="0" y="1684017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0C2756"/>
            </a:solidFill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39630" cy="173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44362" y="2931672"/>
            <a:ext cx="15199275" cy="2629239"/>
            <a:chOff x="0" y="0"/>
            <a:chExt cx="2354765" cy="4073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54765" cy="407338"/>
            </a:xfrm>
            <a:custGeom>
              <a:avLst/>
              <a:gdLst/>
              <a:ahLst/>
              <a:cxnLst/>
              <a:rect r="r" b="b" t="t" l="l"/>
              <a:pathLst>
                <a:path h="407338" w="2354765">
                  <a:moveTo>
                    <a:pt x="0" y="0"/>
                  </a:moveTo>
                  <a:lnTo>
                    <a:pt x="2354765" y="0"/>
                  </a:lnTo>
                  <a:lnTo>
                    <a:pt x="2354765" y="407338"/>
                  </a:lnTo>
                  <a:lnTo>
                    <a:pt x="0" y="407338"/>
                  </a:lnTo>
                  <a:close/>
                </a:path>
              </a:pathLst>
            </a:custGeom>
            <a:blipFill>
              <a:blip r:embed="rId5"/>
              <a:stretch>
                <a:fillRect l="0" t="-142575" r="0" b="-14257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44362" y="1363242"/>
            <a:ext cx="15714938" cy="224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33"/>
              </a:lnSpc>
            </a:pPr>
            <a:r>
              <a:rPr lang="en-US" b="true" sz="6452" spc="3123">
                <a:solidFill>
                  <a:srgbClr val="E2E2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  <a:p>
            <a:pPr algn="ctr">
              <a:lnSpc>
                <a:spcPts val="903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44362" y="5649783"/>
            <a:ext cx="15714938" cy="332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9"/>
              </a:lnSpc>
            </a:pPr>
            <a:r>
              <a:rPr lang="en-US" sz="314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Analyze student engagement, course performance, feedback, and completion.</a:t>
            </a:r>
          </a:p>
          <a:p>
            <a:pPr algn="just">
              <a:lnSpc>
                <a:spcPts val="4409"/>
              </a:lnSpc>
            </a:pPr>
            <a:r>
              <a:rPr lang="en-US" sz="314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Use SQL Server as the main data source and organize the data for analytics.</a:t>
            </a:r>
          </a:p>
          <a:p>
            <a:pPr algn="just">
              <a:lnSpc>
                <a:spcPts val="4409"/>
              </a:lnSpc>
            </a:pPr>
            <a:r>
              <a:rPr lang="en-US" sz="314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Use Python/Jupyter Notebook for data loading, transformation, analysis, and visualizations.</a:t>
            </a:r>
          </a:p>
          <a:p>
            <a:pPr algn="just">
              <a:lnSpc>
                <a:spcPts val="4409"/>
              </a:lnSpc>
            </a:pPr>
            <a:r>
              <a:rPr lang="en-US" sz="314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Build an interactive Power BI dashboard for exploring the results.</a:t>
            </a:r>
          </a:p>
          <a:p>
            <a:pPr algn="just">
              <a:lnSpc>
                <a:spcPts val="440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2173" y="424774"/>
            <a:ext cx="17543653" cy="9437452"/>
            <a:chOff x="0" y="0"/>
            <a:chExt cx="3609805" cy="1941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09805" cy="1941863"/>
            </a:xfrm>
            <a:custGeom>
              <a:avLst/>
              <a:gdLst/>
              <a:ahLst/>
              <a:cxnLst/>
              <a:rect r="r" b="b" t="t" l="l"/>
              <a:pathLst>
                <a:path h="1941863" w="3609805">
                  <a:moveTo>
                    <a:pt x="8619" y="0"/>
                  </a:moveTo>
                  <a:lnTo>
                    <a:pt x="3601186" y="0"/>
                  </a:lnTo>
                  <a:cubicBezTo>
                    <a:pt x="3605946" y="0"/>
                    <a:pt x="3609805" y="3859"/>
                    <a:pt x="3609805" y="8619"/>
                  </a:cubicBezTo>
                  <a:lnTo>
                    <a:pt x="3609805" y="1933244"/>
                  </a:lnTo>
                  <a:cubicBezTo>
                    <a:pt x="3609805" y="1938004"/>
                    <a:pt x="3605946" y="1941863"/>
                    <a:pt x="3601186" y="1941863"/>
                  </a:cubicBezTo>
                  <a:lnTo>
                    <a:pt x="8619" y="1941863"/>
                  </a:lnTo>
                  <a:cubicBezTo>
                    <a:pt x="3859" y="1941863"/>
                    <a:pt x="0" y="1938004"/>
                    <a:pt x="0" y="1933244"/>
                  </a:cubicBezTo>
                  <a:lnTo>
                    <a:pt x="0" y="8619"/>
                  </a:lnTo>
                  <a:cubicBezTo>
                    <a:pt x="0" y="3859"/>
                    <a:pt x="3859" y="0"/>
                    <a:pt x="8619" y="0"/>
                  </a:cubicBezTo>
                  <a:close/>
                </a:path>
              </a:pathLst>
            </a:custGeom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09805" cy="197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784" y="3618229"/>
            <a:ext cx="3609803" cy="360980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81358" y="3618229"/>
            <a:ext cx="3609803" cy="360980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25000" t="0" r="-2500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79885" y="3618229"/>
            <a:ext cx="3609803" cy="360980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78412" y="3618229"/>
            <a:ext cx="3609803" cy="360980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45846" t="0" r="-45846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44362" y="1538854"/>
            <a:ext cx="15586022" cy="179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3"/>
              </a:lnSpc>
            </a:pPr>
            <a:r>
              <a:rPr lang="en-US" b="true" sz="5166" spc="2500">
                <a:solidFill>
                  <a:srgbClr val="E2E2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&amp; ANALYTICS WORKFLOW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9784" y="7446396"/>
            <a:ext cx="3609803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SQL Server Structured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81358" y="7436871"/>
            <a:ext cx="3609803" cy="169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5"/>
              </a:lnSpc>
            </a:pPr>
            <a:r>
              <a:rPr lang="en-US" sz="3218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Power Query</a:t>
            </a:r>
          </a:p>
          <a:p>
            <a:pPr algn="ctr">
              <a:lnSpc>
                <a:spcPts val="4505"/>
              </a:lnSpc>
            </a:pPr>
            <a:r>
              <a:rPr lang="en-US" sz="3218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Cleaning &amp; preparing the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2931" y="7446396"/>
            <a:ext cx="3609803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Python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Data analysis &amp; visualizations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36244" y="7436871"/>
            <a:ext cx="3094141" cy="227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</a:pPr>
            <a:r>
              <a:rPr lang="en-US" sz="323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Power BI</a:t>
            </a:r>
          </a:p>
          <a:p>
            <a:pPr algn="ctr">
              <a:lnSpc>
                <a:spcPts val="4523"/>
              </a:lnSpc>
            </a:pPr>
            <a:r>
              <a:rPr lang="en-US" sz="323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Insights, filters &amp; interactive visuals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173" y="424774"/>
            <a:ext cx="17543653" cy="9437452"/>
            <a:chOff x="0" y="0"/>
            <a:chExt cx="3609805" cy="1941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09805" cy="1941863"/>
            </a:xfrm>
            <a:custGeom>
              <a:avLst/>
              <a:gdLst/>
              <a:ahLst/>
              <a:cxnLst/>
              <a:rect r="r" b="b" t="t" l="l"/>
              <a:pathLst>
                <a:path h="1941863" w="3609805">
                  <a:moveTo>
                    <a:pt x="8619" y="0"/>
                  </a:moveTo>
                  <a:lnTo>
                    <a:pt x="3601186" y="0"/>
                  </a:lnTo>
                  <a:cubicBezTo>
                    <a:pt x="3605946" y="0"/>
                    <a:pt x="3609805" y="3859"/>
                    <a:pt x="3609805" y="8619"/>
                  </a:cubicBezTo>
                  <a:lnTo>
                    <a:pt x="3609805" y="1933244"/>
                  </a:lnTo>
                  <a:cubicBezTo>
                    <a:pt x="3609805" y="1938004"/>
                    <a:pt x="3605946" y="1941863"/>
                    <a:pt x="3601186" y="1941863"/>
                  </a:cubicBezTo>
                  <a:lnTo>
                    <a:pt x="8619" y="1941863"/>
                  </a:lnTo>
                  <a:cubicBezTo>
                    <a:pt x="3859" y="1941863"/>
                    <a:pt x="0" y="1938004"/>
                    <a:pt x="0" y="1933244"/>
                  </a:cubicBezTo>
                  <a:lnTo>
                    <a:pt x="0" y="8619"/>
                  </a:lnTo>
                  <a:cubicBezTo>
                    <a:pt x="0" y="3859"/>
                    <a:pt x="3859" y="0"/>
                    <a:pt x="8619" y="0"/>
                  </a:cubicBezTo>
                  <a:close/>
                </a:path>
              </a:pathLst>
            </a:custGeom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09805" cy="197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68447" y="1894095"/>
            <a:ext cx="6188572" cy="6559861"/>
            <a:chOff x="0" y="0"/>
            <a:chExt cx="1273369" cy="13497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3369" cy="1349766"/>
            </a:xfrm>
            <a:custGeom>
              <a:avLst/>
              <a:gdLst/>
              <a:ahLst/>
              <a:cxnLst/>
              <a:rect r="r" b="b" t="t" l="l"/>
              <a:pathLst>
                <a:path h="1349766" w="1273369">
                  <a:moveTo>
                    <a:pt x="24434" y="0"/>
                  </a:moveTo>
                  <a:lnTo>
                    <a:pt x="1248935" y="0"/>
                  </a:lnTo>
                  <a:cubicBezTo>
                    <a:pt x="1262429" y="0"/>
                    <a:pt x="1273369" y="10939"/>
                    <a:pt x="1273369" y="24434"/>
                  </a:cubicBezTo>
                  <a:lnTo>
                    <a:pt x="1273369" y="1325332"/>
                  </a:lnTo>
                  <a:cubicBezTo>
                    <a:pt x="1273369" y="1338826"/>
                    <a:pt x="1262429" y="1349766"/>
                    <a:pt x="1248935" y="1349766"/>
                  </a:cubicBezTo>
                  <a:lnTo>
                    <a:pt x="24434" y="1349766"/>
                  </a:lnTo>
                  <a:cubicBezTo>
                    <a:pt x="10939" y="1349766"/>
                    <a:pt x="0" y="1338826"/>
                    <a:pt x="0" y="1325332"/>
                  </a:cubicBezTo>
                  <a:lnTo>
                    <a:pt x="0" y="24434"/>
                  </a:lnTo>
                  <a:cubicBezTo>
                    <a:pt x="0" y="10939"/>
                    <a:pt x="10939" y="0"/>
                    <a:pt x="24434" y="0"/>
                  </a:cubicBezTo>
                  <a:close/>
                </a:path>
              </a:pathLst>
            </a:custGeom>
            <a:solidFill>
              <a:srgbClr val="0C2756"/>
            </a:solidFill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3369" cy="1387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7144" y="1894095"/>
            <a:ext cx="10871302" cy="6559861"/>
          </a:xfrm>
          <a:custGeom>
            <a:avLst/>
            <a:gdLst/>
            <a:ahLst/>
            <a:cxnLst/>
            <a:rect r="r" b="b" t="t" l="l"/>
            <a:pathLst>
              <a:path h="6559861" w="10871302">
                <a:moveTo>
                  <a:pt x="0" y="0"/>
                </a:moveTo>
                <a:lnTo>
                  <a:pt x="10871303" y="0"/>
                </a:lnTo>
                <a:lnTo>
                  <a:pt x="10871303" y="6559861"/>
                </a:lnTo>
                <a:lnTo>
                  <a:pt x="0" y="6559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58" t="0" r="-335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2173" y="821214"/>
            <a:ext cx="15908771" cy="651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9"/>
              </a:lnSpc>
            </a:pPr>
            <a:r>
              <a:rPr lang="en-US" b="true" sz="3792" spc="1835">
                <a:solidFill>
                  <a:srgbClr val="E2E2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STUDENT ENGAGEMENT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80809" y="1836945"/>
            <a:ext cx="6376209" cy="599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8528" indent="-369264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342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ighest Enrollment Year: 2023 with 266 enrollments</a:t>
            </a:r>
          </a:p>
          <a:p>
            <a:pPr algn="l" marL="738528" indent="-369264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Highest Completion Rate: Excel Data Consolidation — 55.6%</a:t>
            </a:r>
          </a:p>
          <a:p>
            <a:pPr algn="l" marL="738528" indent="-369264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Top Student by Progress: Caria Pfaff — 82%.</a:t>
            </a:r>
          </a:p>
          <a:p>
            <a:pPr algn="l" marL="738528" indent="-369264" lvl="1">
              <a:lnSpc>
                <a:spcPts val="4788"/>
              </a:lnSpc>
              <a:buFont typeface="Arial"/>
              <a:buChar char="•"/>
            </a:pPr>
            <a:r>
              <a:rPr lang="en-US" sz="342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Top Progress Categories: Power BI and Data Analysis — about 52%.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8605" y="2425713"/>
            <a:ext cx="18725211" cy="8647643"/>
          </a:xfrm>
          <a:custGeom>
            <a:avLst/>
            <a:gdLst/>
            <a:ahLst/>
            <a:cxnLst/>
            <a:rect r="r" b="b" t="t" l="l"/>
            <a:pathLst>
              <a:path h="8647643" w="18725211">
                <a:moveTo>
                  <a:pt x="0" y="0"/>
                </a:moveTo>
                <a:lnTo>
                  <a:pt x="18725210" y="0"/>
                </a:lnTo>
                <a:lnTo>
                  <a:pt x="18725210" y="8647643"/>
                </a:lnTo>
                <a:lnTo>
                  <a:pt x="0" y="8647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173" y="424774"/>
            <a:ext cx="17543653" cy="9437452"/>
            <a:chOff x="0" y="0"/>
            <a:chExt cx="3609805" cy="1941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09805" cy="1941863"/>
            </a:xfrm>
            <a:custGeom>
              <a:avLst/>
              <a:gdLst/>
              <a:ahLst/>
              <a:cxnLst/>
              <a:rect r="r" b="b" t="t" l="l"/>
              <a:pathLst>
                <a:path h="1941863" w="3609805">
                  <a:moveTo>
                    <a:pt x="8619" y="0"/>
                  </a:moveTo>
                  <a:lnTo>
                    <a:pt x="3601186" y="0"/>
                  </a:lnTo>
                  <a:cubicBezTo>
                    <a:pt x="3605946" y="0"/>
                    <a:pt x="3609805" y="3859"/>
                    <a:pt x="3609805" y="8619"/>
                  </a:cubicBezTo>
                  <a:lnTo>
                    <a:pt x="3609805" y="1933244"/>
                  </a:lnTo>
                  <a:cubicBezTo>
                    <a:pt x="3609805" y="1938004"/>
                    <a:pt x="3605946" y="1941863"/>
                    <a:pt x="3601186" y="1941863"/>
                  </a:cubicBezTo>
                  <a:lnTo>
                    <a:pt x="8619" y="1941863"/>
                  </a:lnTo>
                  <a:cubicBezTo>
                    <a:pt x="3859" y="1941863"/>
                    <a:pt x="0" y="1938004"/>
                    <a:pt x="0" y="1933244"/>
                  </a:cubicBezTo>
                  <a:lnTo>
                    <a:pt x="0" y="8619"/>
                  </a:lnTo>
                  <a:cubicBezTo>
                    <a:pt x="0" y="3859"/>
                    <a:pt x="3859" y="0"/>
                    <a:pt x="8619" y="0"/>
                  </a:cubicBezTo>
                  <a:close/>
                </a:path>
              </a:pathLst>
            </a:custGeom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09805" cy="197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32511" y="3467387"/>
            <a:ext cx="5642124" cy="6214777"/>
            <a:chOff x="0" y="0"/>
            <a:chExt cx="1160931" cy="12787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0931" cy="1278761"/>
            </a:xfrm>
            <a:custGeom>
              <a:avLst/>
              <a:gdLst/>
              <a:ahLst/>
              <a:cxnLst/>
              <a:rect r="r" b="b" t="t" l="l"/>
              <a:pathLst>
                <a:path h="1278761" w="1160931">
                  <a:moveTo>
                    <a:pt x="26800" y="0"/>
                  </a:moveTo>
                  <a:lnTo>
                    <a:pt x="1134131" y="0"/>
                  </a:lnTo>
                  <a:cubicBezTo>
                    <a:pt x="1148932" y="0"/>
                    <a:pt x="1160931" y="11999"/>
                    <a:pt x="1160931" y="26800"/>
                  </a:cubicBezTo>
                  <a:lnTo>
                    <a:pt x="1160931" y="1251961"/>
                  </a:lnTo>
                  <a:cubicBezTo>
                    <a:pt x="1160931" y="1266762"/>
                    <a:pt x="1148932" y="1278761"/>
                    <a:pt x="1134131" y="1278761"/>
                  </a:cubicBezTo>
                  <a:lnTo>
                    <a:pt x="26800" y="1278761"/>
                  </a:lnTo>
                  <a:cubicBezTo>
                    <a:pt x="11999" y="1278761"/>
                    <a:pt x="0" y="1266762"/>
                    <a:pt x="0" y="1251961"/>
                  </a:cubicBezTo>
                  <a:lnTo>
                    <a:pt x="0" y="26800"/>
                  </a:lnTo>
                  <a:cubicBezTo>
                    <a:pt x="0" y="11999"/>
                    <a:pt x="11999" y="0"/>
                    <a:pt x="26800" y="0"/>
                  </a:cubicBezTo>
                  <a:close/>
                </a:path>
              </a:pathLst>
            </a:custGeom>
            <a:solidFill>
              <a:srgbClr val="0C2756"/>
            </a:solidFill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60931" cy="1316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3551" y="3459624"/>
            <a:ext cx="10737885" cy="6162535"/>
          </a:xfrm>
          <a:custGeom>
            <a:avLst/>
            <a:gdLst/>
            <a:ahLst/>
            <a:cxnLst/>
            <a:rect r="r" b="b" t="t" l="l"/>
            <a:pathLst>
              <a:path h="6162535" w="10737885">
                <a:moveTo>
                  <a:pt x="0" y="0"/>
                </a:moveTo>
                <a:lnTo>
                  <a:pt x="10737885" y="0"/>
                </a:lnTo>
                <a:lnTo>
                  <a:pt x="10737885" y="6162535"/>
                </a:lnTo>
                <a:lnTo>
                  <a:pt x="0" y="6162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86531" y="895350"/>
            <a:ext cx="17220074" cy="222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7"/>
              </a:lnSpc>
            </a:pPr>
            <a:r>
              <a:rPr lang="en-US" b="true" sz="6369" spc="3082">
                <a:solidFill>
                  <a:srgbClr val="E2E2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COURSE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63167" y="3505447"/>
            <a:ext cx="5911468" cy="611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213" indent="-31310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Highest Average Progress: Deep Learning Fundamentals — 58%.</a:t>
            </a:r>
          </a:p>
          <a:p>
            <a:pPr algn="l" marL="626213" indent="-31310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Other high-progress courses: Power BI Advanced Features and Natural Language Processing with Python — 56% each</a:t>
            </a:r>
          </a:p>
          <a:p>
            <a:pPr algn="l" marL="626213" indent="-31310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Longest Course: Data Analysis with Scikit-learn — 50 hours.</a:t>
            </a:r>
          </a:p>
          <a:p>
            <a:pPr algn="l" marL="626213" indent="-31310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Highest Course Rating: Python for Data Science — 4.07.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7211" y="2317759"/>
            <a:ext cx="18725211" cy="8647643"/>
          </a:xfrm>
          <a:custGeom>
            <a:avLst/>
            <a:gdLst/>
            <a:ahLst/>
            <a:cxnLst/>
            <a:rect r="r" b="b" t="t" l="l"/>
            <a:pathLst>
              <a:path h="8647643" w="18725211">
                <a:moveTo>
                  <a:pt x="0" y="0"/>
                </a:moveTo>
                <a:lnTo>
                  <a:pt x="18725211" y="0"/>
                </a:lnTo>
                <a:lnTo>
                  <a:pt x="18725211" y="8647643"/>
                </a:lnTo>
                <a:lnTo>
                  <a:pt x="0" y="8647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8605" y="2425713"/>
            <a:ext cx="18725211" cy="8647643"/>
          </a:xfrm>
          <a:custGeom>
            <a:avLst/>
            <a:gdLst/>
            <a:ahLst/>
            <a:cxnLst/>
            <a:rect r="r" b="b" t="t" l="l"/>
            <a:pathLst>
              <a:path h="8647643" w="18725211">
                <a:moveTo>
                  <a:pt x="0" y="0"/>
                </a:moveTo>
                <a:lnTo>
                  <a:pt x="18725210" y="0"/>
                </a:lnTo>
                <a:lnTo>
                  <a:pt x="18725210" y="8647643"/>
                </a:lnTo>
                <a:lnTo>
                  <a:pt x="0" y="8647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173" y="424774"/>
            <a:ext cx="17543653" cy="9437452"/>
            <a:chOff x="0" y="0"/>
            <a:chExt cx="3609805" cy="19418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09805" cy="1941863"/>
            </a:xfrm>
            <a:custGeom>
              <a:avLst/>
              <a:gdLst/>
              <a:ahLst/>
              <a:cxnLst/>
              <a:rect r="r" b="b" t="t" l="l"/>
              <a:pathLst>
                <a:path h="1941863" w="3609805">
                  <a:moveTo>
                    <a:pt x="8619" y="0"/>
                  </a:moveTo>
                  <a:lnTo>
                    <a:pt x="3601186" y="0"/>
                  </a:lnTo>
                  <a:cubicBezTo>
                    <a:pt x="3605946" y="0"/>
                    <a:pt x="3609805" y="3859"/>
                    <a:pt x="3609805" y="8619"/>
                  </a:cubicBezTo>
                  <a:lnTo>
                    <a:pt x="3609805" y="1933244"/>
                  </a:lnTo>
                  <a:cubicBezTo>
                    <a:pt x="3609805" y="1938004"/>
                    <a:pt x="3605946" y="1941863"/>
                    <a:pt x="3601186" y="1941863"/>
                  </a:cubicBezTo>
                  <a:lnTo>
                    <a:pt x="8619" y="1941863"/>
                  </a:lnTo>
                  <a:cubicBezTo>
                    <a:pt x="3859" y="1941863"/>
                    <a:pt x="0" y="1938004"/>
                    <a:pt x="0" y="1933244"/>
                  </a:cubicBezTo>
                  <a:lnTo>
                    <a:pt x="0" y="8619"/>
                  </a:lnTo>
                  <a:cubicBezTo>
                    <a:pt x="0" y="3859"/>
                    <a:pt x="3859" y="0"/>
                    <a:pt x="8619" y="0"/>
                  </a:cubicBezTo>
                  <a:close/>
                </a:path>
              </a:pathLst>
            </a:custGeom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09805" cy="197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72173" y="2425713"/>
            <a:ext cx="12569028" cy="6832587"/>
          </a:xfrm>
          <a:custGeom>
            <a:avLst/>
            <a:gdLst/>
            <a:ahLst/>
            <a:cxnLst/>
            <a:rect r="r" b="b" t="t" l="l"/>
            <a:pathLst>
              <a:path h="6832587" w="12569028">
                <a:moveTo>
                  <a:pt x="0" y="0"/>
                </a:moveTo>
                <a:lnTo>
                  <a:pt x="12569028" y="0"/>
                </a:lnTo>
                <a:lnTo>
                  <a:pt x="12569028" y="6832587"/>
                </a:lnTo>
                <a:lnTo>
                  <a:pt x="0" y="6832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71" t="-1209" r="-97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2344" y="923925"/>
            <a:ext cx="17383482" cy="88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2"/>
              </a:lnSpc>
            </a:pPr>
            <a:r>
              <a:rPr lang="en-US" b="true" sz="5159" spc="2497">
                <a:solidFill>
                  <a:srgbClr val="E2E2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FEEDBACK &amp; COMPLETION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139791" y="2317759"/>
            <a:ext cx="4517227" cy="6940541"/>
            <a:chOff x="0" y="0"/>
            <a:chExt cx="929471" cy="14280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9471" cy="1428095"/>
            </a:xfrm>
            <a:custGeom>
              <a:avLst/>
              <a:gdLst/>
              <a:ahLst/>
              <a:cxnLst/>
              <a:rect r="r" b="b" t="t" l="l"/>
              <a:pathLst>
                <a:path h="1428095" w="929471">
                  <a:moveTo>
                    <a:pt x="33474" y="0"/>
                  </a:moveTo>
                  <a:lnTo>
                    <a:pt x="895997" y="0"/>
                  </a:lnTo>
                  <a:cubicBezTo>
                    <a:pt x="904875" y="0"/>
                    <a:pt x="913389" y="3527"/>
                    <a:pt x="919666" y="9804"/>
                  </a:cubicBezTo>
                  <a:cubicBezTo>
                    <a:pt x="925944" y="16082"/>
                    <a:pt x="929471" y="24596"/>
                    <a:pt x="929471" y="33474"/>
                  </a:cubicBezTo>
                  <a:lnTo>
                    <a:pt x="929471" y="1394621"/>
                  </a:lnTo>
                  <a:cubicBezTo>
                    <a:pt x="929471" y="1413108"/>
                    <a:pt x="914484" y="1428095"/>
                    <a:pt x="895997" y="1428095"/>
                  </a:cubicBezTo>
                  <a:lnTo>
                    <a:pt x="33474" y="1428095"/>
                  </a:lnTo>
                  <a:cubicBezTo>
                    <a:pt x="24596" y="1428095"/>
                    <a:pt x="16082" y="1424568"/>
                    <a:pt x="9804" y="1418291"/>
                  </a:cubicBezTo>
                  <a:cubicBezTo>
                    <a:pt x="3527" y="1412013"/>
                    <a:pt x="0" y="1403499"/>
                    <a:pt x="0" y="1394621"/>
                  </a:cubicBezTo>
                  <a:lnTo>
                    <a:pt x="0" y="33474"/>
                  </a:lnTo>
                  <a:cubicBezTo>
                    <a:pt x="0" y="14987"/>
                    <a:pt x="14987" y="0"/>
                    <a:pt x="33474" y="0"/>
                  </a:cubicBezTo>
                  <a:close/>
                </a:path>
              </a:pathLst>
            </a:custGeom>
            <a:solidFill>
              <a:srgbClr val="0C2756"/>
            </a:solidFill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9471" cy="146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139791" y="2628823"/>
            <a:ext cx="4517227" cy="6369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301" indent="-282151" lvl="1">
              <a:lnSpc>
                <a:spcPts val="3659"/>
              </a:lnSpc>
              <a:buFont typeface="Arial"/>
              <a:buChar char="•"/>
            </a:pPr>
            <a:r>
              <a:rPr lang="en-US" sz="2613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Highest Average Progress: Completed — 51%</a:t>
            </a:r>
          </a:p>
          <a:p>
            <a:pPr algn="l" marL="564301" indent="-282151" lvl="1">
              <a:lnSpc>
                <a:spcPts val="3659"/>
              </a:lnSpc>
              <a:buFont typeface="Arial"/>
              <a:buChar char="•"/>
            </a:pPr>
            <a:r>
              <a:rPr lang="en-US" sz="2613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Highest Progress by Rating: Rating 3 — 50.43%</a:t>
            </a:r>
          </a:p>
          <a:p>
            <a:pPr algn="l" marL="564301" indent="-282151" lvl="1">
              <a:lnSpc>
                <a:spcPts val="3659"/>
              </a:lnSpc>
              <a:buFont typeface="Arial"/>
              <a:buChar char="•"/>
            </a:pPr>
            <a:r>
              <a:rPr lang="en-US" sz="2613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Feedback Distribution: Dropped — 35.46%, Completed — 34.63%, In Progress — 29.91%</a:t>
            </a:r>
          </a:p>
          <a:p>
            <a:pPr algn="l" marL="564301" indent="-282151" lvl="1">
              <a:lnSpc>
                <a:spcPts val="3659"/>
              </a:lnSpc>
              <a:buFont typeface="Arial"/>
              <a:buChar char="•"/>
            </a:pPr>
            <a:r>
              <a:rPr lang="en-US" sz="2613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Overall Rating: 3.36, with an overall completion rate of 33.9%</a:t>
            </a:r>
          </a:p>
          <a:p>
            <a:pPr algn="l">
              <a:lnSpc>
                <a:spcPts val="36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420233" y="-207101"/>
            <a:ext cx="7330801" cy="11858648"/>
          </a:xfrm>
          <a:custGeom>
            <a:avLst/>
            <a:gdLst/>
            <a:ahLst/>
            <a:cxnLst/>
            <a:rect r="r" b="b" t="t" l="l"/>
            <a:pathLst>
              <a:path h="11858648" w="7330801">
                <a:moveTo>
                  <a:pt x="7330800" y="0"/>
                </a:moveTo>
                <a:lnTo>
                  <a:pt x="0" y="0"/>
                </a:lnTo>
                <a:lnTo>
                  <a:pt x="0" y="11858648"/>
                </a:lnTo>
                <a:lnTo>
                  <a:pt x="7330800" y="11858648"/>
                </a:lnTo>
                <a:lnTo>
                  <a:pt x="733080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9953" y="-207101"/>
            <a:ext cx="6803711" cy="11006003"/>
          </a:xfrm>
          <a:custGeom>
            <a:avLst/>
            <a:gdLst/>
            <a:ahLst/>
            <a:cxnLst/>
            <a:rect r="r" b="b" t="t" l="l"/>
            <a:pathLst>
              <a:path h="11006003" w="6803711">
                <a:moveTo>
                  <a:pt x="0" y="0"/>
                </a:moveTo>
                <a:lnTo>
                  <a:pt x="6803711" y="0"/>
                </a:lnTo>
                <a:lnTo>
                  <a:pt x="6803711" y="11006002"/>
                </a:lnTo>
                <a:lnTo>
                  <a:pt x="0" y="1100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72173" y="424774"/>
            <a:ext cx="17543653" cy="9437452"/>
            <a:chOff x="0" y="0"/>
            <a:chExt cx="3609805" cy="19418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09805" cy="1941863"/>
            </a:xfrm>
            <a:custGeom>
              <a:avLst/>
              <a:gdLst/>
              <a:ahLst/>
              <a:cxnLst/>
              <a:rect r="r" b="b" t="t" l="l"/>
              <a:pathLst>
                <a:path h="1941863" w="3609805">
                  <a:moveTo>
                    <a:pt x="8619" y="0"/>
                  </a:moveTo>
                  <a:lnTo>
                    <a:pt x="3601186" y="0"/>
                  </a:lnTo>
                  <a:cubicBezTo>
                    <a:pt x="3605946" y="0"/>
                    <a:pt x="3609805" y="3859"/>
                    <a:pt x="3609805" y="8619"/>
                  </a:cubicBezTo>
                  <a:lnTo>
                    <a:pt x="3609805" y="1933244"/>
                  </a:lnTo>
                  <a:cubicBezTo>
                    <a:pt x="3609805" y="1938004"/>
                    <a:pt x="3605946" y="1941863"/>
                    <a:pt x="3601186" y="1941863"/>
                  </a:cubicBezTo>
                  <a:lnTo>
                    <a:pt x="8619" y="1941863"/>
                  </a:lnTo>
                  <a:cubicBezTo>
                    <a:pt x="3859" y="1941863"/>
                    <a:pt x="0" y="1938004"/>
                    <a:pt x="0" y="1933244"/>
                  </a:cubicBezTo>
                  <a:lnTo>
                    <a:pt x="0" y="8619"/>
                  </a:lnTo>
                  <a:cubicBezTo>
                    <a:pt x="0" y="3859"/>
                    <a:pt x="3859" y="0"/>
                    <a:pt x="8619" y="0"/>
                  </a:cubicBezTo>
                  <a:close/>
                </a:path>
              </a:pathLst>
            </a:custGeom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09805" cy="197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622353" y="-359501"/>
            <a:ext cx="6803711" cy="11006003"/>
          </a:xfrm>
          <a:custGeom>
            <a:avLst/>
            <a:gdLst/>
            <a:ahLst/>
            <a:cxnLst/>
            <a:rect r="r" b="b" t="t" l="l"/>
            <a:pathLst>
              <a:path h="11006003" w="6803711">
                <a:moveTo>
                  <a:pt x="0" y="0"/>
                </a:moveTo>
                <a:lnTo>
                  <a:pt x="6803711" y="0"/>
                </a:lnTo>
                <a:lnTo>
                  <a:pt x="6803711" y="11006002"/>
                </a:lnTo>
                <a:lnTo>
                  <a:pt x="0" y="1100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1267833" y="-359501"/>
            <a:ext cx="7330801" cy="11858648"/>
          </a:xfrm>
          <a:custGeom>
            <a:avLst/>
            <a:gdLst/>
            <a:ahLst/>
            <a:cxnLst/>
            <a:rect r="r" b="b" t="t" l="l"/>
            <a:pathLst>
              <a:path h="11858648" w="7330801">
                <a:moveTo>
                  <a:pt x="7330800" y="0"/>
                </a:moveTo>
                <a:lnTo>
                  <a:pt x="0" y="0"/>
                </a:lnTo>
                <a:lnTo>
                  <a:pt x="0" y="11858648"/>
                </a:lnTo>
                <a:lnTo>
                  <a:pt x="7330800" y="11858648"/>
                </a:lnTo>
                <a:lnTo>
                  <a:pt x="733080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44362" y="1472179"/>
            <a:ext cx="15199275" cy="145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b="true" sz="8500" spc="4114">
                <a:solidFill>
                  <a:srgbClr val="E2E2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444" y="2866013"/>
            <a:ext cx="16230600" cy="615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      Overall Rating: The average rating is 3.36, with an overall completion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       rate of 33.9%.             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      Completion &amp; Rating: In Progress enrollments have the highest            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       average rating (3.43), while Completed enrollments have an average</a:t>
            </a:r>
          </a:p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        rating of 3.29.</a:t>
            </a:r>
          </a:p>
          <a:p>
            <a:pPr algn="ctr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Top 3 Rated Courses:Python for Data Science — 4.1</a:t>
            </a:r>
          </a:p>
          <a:p>
            <a:pPr algn="ctr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Excel Data Consolidation — 4.0</a:t>
            </a:r>
          </a:p>
          <a:p>
            <a:pPr algn="ctr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Power BI Essentials — 4.0</a:t>
            </a:r>
          </a:p>
          <a:p>
            <a:pPr algn="ctr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173" y="424774"/>
            <a:ext cx="17543653" cy="9437452"/>
            <a:chOff x="0" y="0"/>
            <a:chExt cx="3609805" cy="1941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09805" cy="1941863"/>
            </a:xfrm>
            <a:custGeom>
              <a:avLst/>
              <a:gdLst/>
              <a:ahLst/>
              <a:cxnLst/>
              <a:rect r="r" b="b" t="t" l="l"/>
              <a:pathLst>
                <a:path h="1941863" w="3609805">
                  <a:moveTo>
                    <a:pt x="8619" y="0"/>
                  </a:moveTo>
                  <a:lnTo>
                    <a:pt x="3601186" y="0"/>
                  </a:lnTo>
                  <a:cubicBezTo>
                    <a:pt x="3605946" y="0"/>
                    <a:pt x="3609805" y="3859"/>
                    <a:pt x="3609805" y="8619"/>
                  </a:cubicBezTo>
                  <a:lnTo>
                    <a:pt x="3609805" y="1933244"/>
                  </a:lnTo>
                  <a:cubicBezTo>
                    <a:pt x="3609805" y="1938004"/>
                    <a:pt x="3605946" y="1941863"/>
                    <a:pt x="3601186" y="1941863"/>
                  </a:cubicBezTo>
                  <a:lnTo>
                    <a:pt x="8619" y="1941863"/>
                  </a:lnTo>
                  <a:cubicBezTo>
                    <a:pt x="3859" y="1941863"/>
                    <a:pt x="0" y="1938004"/>
                    <a:pt x="0" y="1933244"/>
                  </a:cubicBezTo>
                  <a:lnTo>
                    <a:pt x="0" y="8619"/>
                  </a:lnTo>
                  <a:cubicBezTo>
                    <a:pt x="0" y="3859"/>
                    <a:pt x="3859" y="0"/>
                    <a:pt x="8619" y="0"/>
                  </a:cubicBezTo>
                  <a:close/>
                </a:path>
              </a:pathLst>
            </a:custGeom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09805" cy="197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1558917"/>
            <a:ext cx="8115300" cy="6185625"/>
          </a:xfrm>
          <a:custGeom>
            <a:avLst/>
            <a:gdLst/>
            <a:ahLst/>
            <a:cxnLst/>
            <a:rect r="r" b="b" t="t" l="l"/>
            <a:pathLst>
              <a:path h="6185625" w="8115300">
                <a:moveTo>
                  <a:pt x="0" y="0"/>
                </a:moveTo>
                <a:lnTo>
                  <a:pt x="8115300" y="0"/>
                </a:lnTo>
                <a:lnTo>
                  <a:pt x="8115300" y="6185625"/>
                </a:lnTo>
                <a:lnTo>
                  <a:pt x="0" y="6185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09364" y="2594330"/>
            <a:ext cx="7184571" cy="4114800"/>
          </a:xfrm>
          <a:custGeom>
            <a:avLst/>
            <a:gdLst/>
            <a:ahLst/>
            <a:cxnLst/>
            <a:rect r="r" b="b" t="t" l="l"/>
            <a:pathLst>
              <a:path h="4114800" w="7184571">
                <a:moveTo>
                  <a:pt x="0" y="0"/>
                </a:moveTo>
                <a:lnTo>
                  <a:pt x="7184572" y="0"/>
                </a:lnTo>
                <a:lnTo>
                  <a:pt x="7184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24590" y="775765"/>
            <a:ext cx="14871455" cy="78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b="true" sz="4576" spc="361">
                <a:solidFill>
                  <a:srgbClr val="E2E2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&amp; CONCLUSION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6933" y="1970614"/>
            <a:ext cx="6776120" cy="7520527"/>
            <a:chOff x="0" y="0"/>
            <a:chExt cx="1394263" cy="15474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4263" cy="1547434"/>
            </a:xfrm>
            <a:custGeom>
              <a:avLst/>
              <a:gdLst/>
              <a:ahLst/>
              <a:cxnLst/>
              <a:rect r="r" b="b" t="t" l="l"/>
              <a:pathLst>
                <a:path h="1547434" w="1394263">
                  <a:moveTo>
                    <a:pt x="22315" y="0"/>
                  </a:moveTo>
                  <a:lnTo>
                    <a:pt x="1371948" y="0"/>
                  </a:lnTo>
                  <a:cubicBezTo>
                    <a:pt x="1377867" y="0"/>
                    <a:pt x="1383543" y="2351"/>
                    <a:pt x="1387727" y="6536"/>
                  </a:cubicBezTo>
                  <a:cubicBezTo>
                    <a:pt x="1391912" y="10721"/>
                    <a:pt x="1394263" y="16397"/>
                    <a:pt x="1394263" y="22315"/>
                  </a:cubicBezTo>
                  <a:lnTo>
                    <a:pt x="1394263" y="1525119"/>
                  </a:lnTo>
                  <a:cubicBezTo>
                    <a:pt x="1394263" y="1531037"/>
                    <a:pt x="1391912" y="1536713"/>
                    <a:pt x="1387727" y="1540898"/>
                  </a:cubicBezTo>
                  <a:cubicBezTo>
                    <a:pt x="1383543" y="1545083"/>
                    <a:pt x="1377867" y="1547434"/>
                    <a:pt x="1371948" y="1547434"/>
                  </a:cubicBezTo>
                  <a:lnTo>
                    <a:pt x="22315" y="1547434"/>
                  </a:lnTo>
                  <a:cubicBezTo>
                    <a:pt x="16397" y="1547434"/>
                    <a:pt x="10721" y="1545083"/>
                    <a:pt x="6536" y="1540898"/>
                  </a:cubicBezTo>
                  <a:cubicBezTo>
                    <a:pt x="2351" y="1536713"/>
                    <a:pt x="0" y="1531037"/>
                    <a:pt x="0" y="1525119"/>
                  </a:cubicBezTo>
                  <a:lnTo>
                    <a:pt x="0" y="22315"/>
                  </a:lnTo>
                  <a:cubicBezTo>
                    <a:pt x="0" y="16397"/>
                    <a:pt x="2351" y="10721"/>
                    <a:pt x="6536" y="6536"/>
                  </a:cubicBezTo>
                  <a:cubicBezTo>
                    <a:pt x="10721" y="2351"/>
                    <a:pt x="16397" y="0"/>
                    <a:pt x="22315" y="0"/>
                  </a:cubicBezTo>
                  <a:close/>
                </a:path>
              </a:pathLst>
            </a:custGeom>
            <a:solidFill>
              <a:srgbClr val="0C2756"/>
            </a:solidFill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94263" cy="1585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2173" y="1913464"/>
            <a:ext cx="7472912" cy="789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8"/>
              </a:lnSpc>
            </a:pPr>
            <a:r>
              <a:rPr lang="en-US" sz="3470" b="true">
                <a:solidFill>
                  <a:srgbClr val="E2E2B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🔹 Interactive Pages</a:t>
            </a:r>
          </a:p>
          <a:p>
            <a:pPr algn="ctr">
              <a:lnSpc>
                <a:spcPts val="4858"/>
              </a:lnSpc>
            </a:pPr>
            <a:r>
              <a:rPr lang="en-US" sz="347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Student Engagement</a:t>
            </a:r>
          </a:p>
          <a:p>
            <a:pPr algn="ctr">
              <a:lnSpc>
                <a:spcPts val="4858"/>
              </a:lnSpc>
            </a:pPr>
            <a:r>
              <a:rPr lang="en-US" sz="347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Course Perfor</a:t>
            </a:r>
            <a:r>
              <a:rPr lang="en-US" sz="347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mance</a:t>
            </a:r>
          </a:p>
          <a:p>
            <a:pPr algn="ctr">
              <a:lnSpc>
                <a:spcPts val="4858"/>
              </a:lnSpc>
            </a:pPr>
            <a:r>
              <a:rPr lang="en-US" sz="347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Feedback &amp; Completion</a:t>
            </a:r>
          </a:p>
          <a:p>
            <a:pPr algn="ctr">
              <a:lnSpc>
                <a:spcPts val="4858"/>
              </a:lnSpc>
            </a:pPr>
            <a:r>
              <a:rPr lang="en-US" b="true" sz="3470">
                <a:solidFill>
                  <a:srgbClr val="E2E2B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🔹 Drillthrough</a:t>
            </a:r>
          </a:p>
          <a:p>
            <a:pPr algn="ctr">
              <a:lnSpc>
                <a:spcPts val="4858"/>
              </a:lnSpc>
            </a:pPr>
            <a:r>
              <a:rPr lang="en-US" sz="347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Course-level detailed analysis</a:t>
            </a:r>
          </a:p>
          <a:p>
            <a:pPr algn="ctr">
              <a:lnSpc>
                <a:spcPts val="4858"/>
              </a:lnSpc>
            </a:pPr>
            <a:r>
              <a:rPr lang="en-US" b="true" sz="3470">
                <a:solidFill>
                  <a:srgbClr val="E2E2B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🔹 Tooltips</a:t>
            </a:r>
          </a:p>
          <a:p>
            <a:pPr algn="ctr">
              <a:lnSpc>
                <a:spcPts val="4858"/>
              </a:lnSpc>
            </a:pPr>
            <a:r>
              <a:rPr lang="en-US" sz="347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Additional insights on hover</a:t>
            </a:r>
          </a:p>
          <a:p>
            <a:pPr algn="ctr">
              <a:lnSpc>
                <a:spcPts val="4858"/>
              </a:lnSpc>
            </a:pPr>
            <a:r>
              <a:rPr lang="en-US" b="true" sz="3470">
                <a:solidFill>
                  <a:srgbClr val="E2E2B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🔹 Slicers</a:t>
            </a:r>
          </a:p>
          <a:p>
            <a:pPr algn="ctr">
              <a:lnSpc>
                <a:spcPts val="4858"/>
              </a:lnSpc>
            </a:pPr>
            <a:r>
              <a:rPr lang="en-US" sz="347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Country &amp; Category filters</a:t>
            </a:r>
          </a:p>
          <a:p>
            <a:pPr algn="ctr">
              <a:lnSpc>
                <a:spcPts val="4858"/>
              </a:lnSpc>
            </a:pPr>
            <a:r>
              <a:rPr lang="en-US" b="true" sz="3470">
                <a:solidFill>
                  <a:srgbClr val="E2E2B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🔹 Navigation &amp; Bookmarks</a:t>
            </a:r>
          </a:p>
          <a:p>
            <a:pPr algn="ctr">
              <a:lnSpc>
                <a:spcPts val="4858"/>
              </a:lnSpc>
            </a:pPr>
            <a:r>
              <a:rPr lang="en-US" sz="3470">
                <a:solidFill>
                  <a:srgbClr val="E2E2B6"/>
                </a:solidFill>
                <a:latin typeface="Open Sans"/>
                <a:ea typeface="Open Sans"/>
                <a:cs typeface="Open Sans"/>
                <a:sym typeface="Open Sans"/>
              </a:rPr>
              <a:t> Easy dashboard exploration</a:t>
            </a:r>
          </a:p>
          <a:p>
            <a:pPr algn="ctr">
              <a:lnSpc>
                <a:spcPts val="485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173" y="424774"/>
            <a:ext cx="17543653" cy="9437452"/>
            <a:chOff x="0" y="0"/>
            <a:chExt cx="3609805" cy="1941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09805" cy="1941863"/>
            </a:xfrm>
            <a:custGeom>
              <a:avLst/>
              <a:gdLst/>
              <a:ahLst/>
              <a:cxnLst/>
              <a:rect r="r" b="b" t="t" l="l"/>
              <a:pathLst>
                <a:path h="1941863" w="3609805">
                  <a:moveTo>
                    <a:pt x="8619" y="0"/>
                  </a:moveTo>
                  <a:lnTo>
                    <a:pt x="3601186" y="0"/>
                  </a:lnTo>
                  <a:cubicBezTo>
                    <a:pt x="3605946" y="0"/>
                    <a:pt x="3609805" y="3859"/>
                    <a:pt x="3609805" y="8619"/>
                  </a:cubicBezTo>
                  <a:lnTo>
                    <a:pt x="3609805" y="1933244"/>
                  </a:lnTo>
                  <a:cubicBezTo>
                    <a:pt x="3609805" y="1938004"/>
                    <a:pt x="3605946" y="1941863"/>
                    <a:pt x="3601186" y="1941863"/>
                  </a:cubicBezTo>
                  <a:lnTo>
                    <a:pt x="8619" y="1941863"/>
                  </a:lnTo>
                  <a:cubicBezTo>
                    <a:pt x="3859" y="1941863"/>
                    <a:pt x="0" y="1938004"/>
                    <a:pt x="0" y="1933244"/>
                  </a:cubicBezTo>
                  <a:lnTo>
                    <a:pt x="0" y="8619"/>
                  </a:lnTo>
                  <a:cubicBezTo>
                    <a:pt x="0" y="3859"/>
                    <a:pt x="3859" y="0"/>
                    <a:pt x="8619" y="0"/>
                  </a:cubicBezTo>
                  <a:close/>
                </a:path>
              </a:pathLst>
            </a:custGeom>
            <a:ln w="38100" cap="rnd">
              <a:solidFill>
                <a:srgbClr val="E2E2B6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09805" cy="197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1558917"/>
            <a:ext cx="8115300" cy="6185625"/>
          </a:xfrm>
          <a:custGeom>
            <a:avLst/>
            <a:gdLst/>
            <a:ahLst/>
            <a:cxnLst/>
            <a:rect r="r" b="b" t="t" l="l"/>
            <a:pathLst>
              <a:path h="6185625" w="8115300">
                <a:moveTo>
                  <a:pt x="0" y="0"/>
                </a:moveTo>
                <a:lnTo>
                  <a:pt x="8115300" y="0"/>
                </a:lnTo>
                <a:lnTo>
                  <a:pt x="8115300" y="6185625"/>
                </a:lnTo>
                <a:lnTo>
                  <a:pt x="0" y="6185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09364" y="2594330"/>
            <a:ext cx="7184571" cy="4114800"/>
          </a:xfrm>
          <a:custGeom>
            <a:avLst/>
            <a:gdLst/>
            <a:ahLst/>
            <a:cxnLst/>
            <a:rect r="r" b="b" t="t" l="l"/>
            <a:pathLst>
              <a:path h="4114800" w="7184571">
                <a:moveTo>
                  <a:pt x="0" y="0"/>
                </a:moveTo>
                <a:lnTo>
                  <a:pt x="7184572" y="0"/>
                </a:lnTo>
                <a:lnTo>
                  <a:pt x="7184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698263"/>
            <a:ext cx="10595667" cy="653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6"/>
              </a:lnSpc>
            </a:pPr>
            <a:r>
              <a:rPr lang="en-US" b="true" sz="18732" spc="1479">
                <a:solidFill>
                  <a:srgbClr val="E2E2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DAHWG-_XdVs</dc:identifier>
  <dcterms:modified xsi:type="dcterms:W3CDTF">2011-08-01T06:04:30Z</dcterms:modified>
  <cp:revision>1</cp:revision>
  <dc:title>Blue Simple Data Analyst Presentation</dc:title>
</cp:coreProperties>
</file>